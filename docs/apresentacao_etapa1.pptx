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· 5 s (acumulado 0:05)</a:t>
            </a:r>
          </a:p>
          <a:p/>
          <a:p>
            <a:r>
              <a:t>Este slide fica no ar só durante a primeira frase do bloco do problema (texto completo nas notas do próximo slide). Comece a falar já com este slide aberto e troque para o slide 2 ao terminar a primeira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PROBLEMA · 25 s (acumulado 0:30)</a:t>
            </a:r>
          </a:p>
          <a:p/>
          <a:p>
            <a:r>
              <a:t>Fala:</a:t>
            </a:r>
          </a:p>
          <a:p>
            <a:r>
              <a:t>"Todo trimestre, os cinco bancos deste projeto publicam duas versões do mesmo resultado: o release em PDF, escrito para o mercado, e os formulários que o mesmo banco entrega à CVM. As duas são públicas, e quase ninguém abre as duas.</a:t>
            </a:r>
          </a:p>
          <a:p/>
          <a:p>
            <a:r>
              <a:t>Quem é de fora não entende o que leu. Quem é de dentro não pode citar um número que a fonte não sustenta — e leva tempo demais para achá-lo."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RELEVÂNCIA — OS DOIS NÚMEROS MEDIDOS · 30 s (acumulado 1:00)</a:t>
            </a:r>
          </a:p>
          <a:p/>
          <a:p>
            <a:r>
              <a:t>Sustenta o critério de relevância com dois números medidos dentro do próprio projeto. Deixe cada um no ar alguns segundos.</a:t>
            </a:r>
          </a:p>
          <a:p/>
          <a:p>
            <a:r>
              <a:t>Fala:</a:t>
            </a:r>
          </a:p>
          <a:p>
            <a:r>
              <a:t>"Não é hipotético, e eu tenho dois números do próprio projeto.</a:t>
            </a:r>
          </a:p>
          <a:p/>
          <a:p>
            <a:r>
              <a:t>No segundo trimestre de 2025, o lucro do Santander é um vírgula nove bilhões pelo contábil arquivado na CVM, e três vírgula sete bilhões pelo gerencial do release. Mesmo trimestre, mesma empresa, nenhum dos dois errado.</a:t>
            </a:r>
          </a:p>
          <a:p/>
          <a:p>
            <a:r>
              <a:t>O segundo caso é pior, porque é invisível: a conta 3.09 é lucro líquido em três dos cinco bancos; nos outros dois, é outra coisa. Consultar sem saber disso devolve número plausível e errado, sem nenhum sinal."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ARQUITETURA: QUATRO PORTAS · 18 s (acumulado 1:18)</a:t>
            </a:r>
          </a:p>
          <a:p/>
          <a:p>
            <a:r>
              <a:t>Fala:</a:t>
            </a:r>
          </a:p>
          <a:p>
            <a:r>
              <a:t>"É uma interface de chat em Streamlit, e a pergunta passa por até quatro portas: guardrails, o painel contábil sem modelo nenhum, o modelo como intérprete, e o RAG. A ordem é a que gasta menos — só chega ao modelo o que as anteriores não resolvem."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A RESPOSTA É MONTADA · 30 s (acumulado 1:48)</a:t>
            </a:r>
          </a:p>
          <a:p/>
          <a:p>
            <a:r>
              <a:t>Responde à pergunta que o corretor vai ter: se tem RAG, o que o modelo faz quando o rodapé diz "nenhuma chamada externa"?</a:t>
            </a:r>
          </a:p>
          <a:p/>
          <a:p>
            <a:r>
              <a:t>Fala:</a:t>
            </a:r>
          </a:p>
          <a:p>
            <a:r>
              <a:t>"A maioria das perguntas não passa pelo modelo. São cinco passos determinísticos: uma expressão regular tira período e conceito, a companhia vira código CVM, o mapa semântico acha a conta certa daquele banco — é ele que resolve o problema do slide anterior —, o DuckDB devolve o valor com a procedência, e a frase sai de um template em Python.</a:t>
            </a:r>
          </a:p>
          <a:p/>
          <a:p>
            <a:r>
              <a:t>O modelo entra em dois casos só: narrativa do release, e conceito fora do painel. E há dois agentes construídos, com o isolamento travado por dezesseis testes; medir os três braços é da próxima etapa."</a:t>
            </a:r>
          </a:p>
          <a:p/>
          <a:p>
            <a:r>
              <a:t>Ao terminar: vire para a tela compartilhada.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DEMONSTRAÇÃO AO VIVO · 1 min 45 s (acumulado 3:33)</a:t>
            </a:r>
          </a:p>
          <a:p>
            <a:r>
              <a:t>Este slide fica de fundo durante toda a demonstração. Cole as perguntas em vez de digitar — o roteiro não tem folga para digitar ao vivo.</a:t>
            </a:r>
          </a:p>
          <a:p/>
          <a:p>
            <a:r>
              <a:t>— D1 · 20 s — UX writing e valor derivado —</a:t>
            </a:r>
          </a:p>
          <a:p>
            <a:r>
              <a:t>Digite: Qual foi o lucro do Itaú no segundo semestre de 2025?</a:t>
            </a:r>
          </a:p>
          <a:p>
            <a:r>
              <a:t>Fala: "Semestre não existe no painel — ele guarda trimestre. O sistema traduz, soma os dois e responde em uma frase. Repare no valor legível ao lado do exato, na marca de valor derivado — o quarto trimestre não existe como ITR, foi calculado — e na procedência abaixo."</a:t>
            </a:r>
          </a:p>
          <a:p/>
          <a:p>
            <a:r>
              <a:t>— D2 · 15 s — a interface pergunta de volta —</a:t>
            </a:r>
          </a:p>
          <a:p>
            <a:r>
              <a:t>Digite: Qual foi o lucro do Itaú?</a:t>
            </a:r>
          </a:p>
          <a:p>
            <a:r>
              <a:t>Fala: "Sem período, ele não chuta e não despeja a série inteira: pergunta de volta, e diz em que formato responder. Isso é UX writing escrito para este domínio — a pergunta incompleta é do usuário, mas quem resolve é a interface."</a:t>
            </a:r>
          </a:p>
          <a:p/>
          <a:p>
            <a:r>
              <a:t>— D3 · 12 s — guardrail —</a:t>
            </a:r>
          </a:p>
          <a:p>
            <a:r>
              <a:t>Digite: Devo comprar ações do Itaú agora?</a:t>
            </a:r>
          </a:p>
          <a:p>
            <a:r>
              <a:t>Fala: "Recomendação de investimento é atividade privativa de analista credenciado, pela Resolução CVM 20/2021. O sistema recusa citando a norma — e recusa antes de qualquer chamada externa, com custo zero."</a:t>
            </a:r>
          </a:p>
          <a:p/>
          <a:p>
            <a:r>
              <a:t>— D4 · 45 s — RAG com streaming —</a:t>
            </a:r>
          </a:p>
          <a:p>
            <a:r>
              <a:t>Digite: Segundo a análise gerencial do Itaú Unibanco, qual foi o resultado recorrente gerencial no 2T2025?</a:t>
            </a:r>
          </a:p>
          <a:p>
            <a:r>
              <a:t>Narre durante os ~13 s de espera antes do texto aparecer — o silêncio é parte do desenho, não um defeito:</a:t>
            </a:r>
          </a:p>
          <a:p>
            <a:r>
              <a:t>Fala: "Essa é a única das quatro que chama o modelo, e ela demora uns treze segundos antes de aparecer texto — de propósito. Ele recupera os trechos, gera a resposta, e só então confere se cada número aparece nos trechos citados. Se não aparecer, vira recusa. Ou seja: o que chega à tela já passou pela validação, e é por isso que o streaming começa tarde. O system prompt proíbe responder de memória e obriga a citação."</a:t>
            </a:r>
          </a:p>
          <a:p>
            <a:r>
              <a:t>Quando o texto aparecer, fala: "R$ 11.508 milhões, com o documento e a página de onde saiu."</a:t>
            </a:r>
          </a:p>
          <a:p/>
          <a:p>
            <a:r>
              <a:t>— D5 · 13 s — session state —</a:t>
            </a:r>
          </a:p>
          <a:p>
            <a:r>
              <a:t>Aponte para a barra lateral.</a:t>
            </a:r>
          </a:p>
          <a:p>
            <a:r>
              <a:t>Fala: "E aqui na lateral: as perguntas livres caíram de cinco para quatro, e o orçamento da sessão foi debitado. Esse session state é o que impede uma demonstração aberta de virar uma conta aberta."</a:t>
            </a:r>
          </a:p>
          <a:p/>
          <a:p>
            <a:r>
              <a:t>ANTES DE GRAVAR: HABILITAR_PERGUNTAS_LIVRES=1 no .env com o app reiniciado; modo Pergunta livre selecionado (D4 só funciona nesse modo); Ollama ativo; saldo e cota com folga; lateral visível na janela.</a:t>
            </a:r>
          </a:p>
          <a:p>
            <a:r>
              <a:t>NÃO demonstrar: comparação entre bancos ou variação entre trimestres — a rota determinística intercepta as duas e responde sem comparar nem calcular.</a:t>
            </a:r>
          </a:p>
          <a:p>
            <a:r>
              <a:t>Custo desta sequência: ~US$ 0,003, já validado no ensaio de 18/09 (R$ 11.508 milhões, página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NÃO INVENTA NÚMERO · 15 s (acumulado 3:48)</a:t>
            </a:r>
          </a:p>
          <a:p/>
          <a:p>
            <a:r>
              <a:t>Curto de propósito: o system prompt já foi explicado no slide 5 e a recusa já apareceu na demonstração. Se o tempo estourar, este é o slide a cortar.</a:t>
            </a:r>
          </a:p>
          <a:p/>
          <a:p>
            <a:r>
              <a:t>Fala:</a:t>
            </a:r>
          </a:p>
          <a:p>
            <a:r>
              <a:t>"Tudo isso são regras que não são texto: são código com teste. E foram medidas — vinte de vinte ataques bloqueados, e zero falso bloqueio nas quarenta e cinco perguntas legítimas."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FECHO · 8 s (acumulado 3:56)</a:t>
            </a:r>
          </a:p>
          <a:p/>
          <a:p>
            <a:r>
              <a:t>Fala:</a:t>
            </a:r>
          </a:p>
          <a:p>
            <a:r>
              <a:t>"O que está aqui é o que está medido. O que ainda não está, eu deixei escrito na entrega. Obrigado."</a:t>
            </a:r>
          </a:p>
          <a:p/>
          <a:p>
            <a:r>
              <a:t>Lembrete geral para toda a apresentação: não afirmar que os dois agentes rodam na demonstração — eles estão construídos e testados, não ligados à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8096" y="1225296"/>
            <a:ext cx="1784157" cy="16642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49155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71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Assistente de Research Financeiro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9EC5D4"/>
                </a:solidFill>
                <a:latin typeface="Calibri"/>
              </a:rPr>
              <a:t>RAG sobre releases de resultado e o painel contábil da CVM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7E9AB5"/>
                </a:solidFill>
                <a:latin typeface="Calibri"/>
              </a:rPr>
              <a:t>Etapa 1 · Challenge Based Learning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7E9AB5"/>
                </a:solidFill>
                <a:latin typeface="Calibri"/>
              </a:rPr>
              <a:t>AI Factory: Building Intelligent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2545"/>
                </a:solidFill>
                <a:latin typeface="Calibri"/>
              </a:rPr>
              <a:t>Divulgar não é informar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1D7874"/>
                </a:solidFill>
                <a:latin typeface="Calibri"/>
              </a:rPr>
              <a:t>Os cinco bancos do corpus publicam duas versões do mesmo trimestre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5029200" cy="141732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34074"/>
                </a:solidFill>
                <a:latin typeface="Calibri"/>
              </a:rPr>
              <a:t>Release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PDF de centenas de páginas, escrito para o mercado.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Métrica ajustada, na leitura da própria administração.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965960"/>
            <a:ext cx="5029200" cy="141732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D7874"/>
                </a:solidFill>
                <a:latin typeface="Calibri"/>
              </a:rPr>
              <a:t>Formulários ITR / DFP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Entregues à CVM pelo mesmo banco, no mesmo período.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Número contábil, padronizado e auditado.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10545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 i="0">
                <a:solidFill>
                  <a:srgbClr val="0B2545"/>
                </a:solidFill>
                <a:latin typeface="Calibri"/>
              </a:rPr>
              <a:t>As duas são públicas e gratuitas. Quase ninguém abre as duas.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4577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55263"/>
                </a:solidFill>
                <a:latin typeface="Calibri"/>
              </a:rPr>
              <a:t>Quem é de fora   →   não entende o que leu.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55263"/>
                </a:solidFill>
                <a:latin typeface="Calibri"/>
              </a:rPr>
              <a:t>Quem é de dentro   →   não pode citar número que a fonte não sustenta,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55263"/>
                </a:solidFill>
                <a:latin typeface="Calibri"/>
              </a:rPr>
              <a:t>e leva tempo demais para achá-lo entre centenas de páginas.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19963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6A6"/>
                </a:solidFill>
                <a:latin typeface="Calibri"/>
              </a:rPr>
              <a:t>Pergunta essencial: como saber quando a própria tecnologia está errada?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2545"/>
                </a:solidFill>
                <a:latin typeface="Calibri"/>
              </a:rPr>
              <a:t>O problema não é hipotético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1D7874"/>
                </a:solidFill>
                <a:latin typeface="Calibri"/>
              </a:rPr>
              <a:t>Os dois casos abaixo foram medidos dentro deste próprio projeto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5029200" cy="274320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21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4074"/>
                </a:solidFill>
                <a:latin typeface="Calibri"/>
              </a:rPr>
              <a:t>O mesmo trimestre, dois números certos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871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8A96A6"/>
                </a:solidFill>
                <a:latin typeface="Calibri"/>
              </a:rPr>
              <a:t>Santander, 2T2025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34074"/>
                </a:solidFill>
                <a:latin typeface="Calibri"/>
              </a:rPr>
              <a:t>R$ 1,93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99008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contábil, arquivado na CVM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38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34074"/>
                </a:solidFill>
                <a:latin typeface="Calibri"/>
              </a:rPr>
              <a:t>R$ 3,66 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648456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gerencial, no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1605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B2545"/>
                </a:solidFill>
                <a:latin typeface="Calibri"/>
              </a:rPr>
              <a:t>Nenhum dos dois está errado. Eles medem coisas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B2545"/>
                </a:solidFill>
                <a:latin typeface="Calibri"/>
              </a:rPr>
              <a:t>diferentes — e quase o dobro separa um do outro.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965960"/>
            <a:ext cx="5029200" cy="274320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21408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D7874"/>
                </a:solidFill>
                <a:latin typeface="Calibri"/>
              </a:rPr>
              <a:t>O mesmo código, contas diferentes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871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8A96A6"/>
                </a:solidFill>
                <a:latin typeface="Calibri"/>
              </a:rPr>
              <a:t>Conta 3.09 no plano da CVM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D7874"/>
                </a:solidFill>
                <a:latin typeface="Calibri"/>
              </a:rPr>
              <a:t>3 de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90088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bancos: é lucro líquido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538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D7874"/>
                </a:solidFill>
                <a:latin typeface="Calibri"/>
              </a:rPr>
              <a:t>2 de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648456"/>
            <a:ext cx="2697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bancos: é outra coisa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605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B2545"/>
                </a:solidFill>
                <a:latin typeface="Calibri"/>
              </a:rPr>
              <a:t>Uma consulta ingênua devolve número plausível,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0B2545"/>
                </a:solidFill>
                <a:latin typeface="Calibri"/>
              </a:rPr>
              <a:t>não nulo e errado — sem nenhum sinal disso.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8348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B2545"/>
                </a:solidFill>
                <a:latin typeface="Calibri"/>
              </a:rPr>
              <a:t>Quem responde sem saber disso acerta em três bancos, erra em dois — e não tem como perceber a diferença.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19963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6A6"/>
                </a:solidFill>
                <a:latin typeface="Calibri"/>
              </a:rPr>
              <a:t>É por isso que o projeto trata a conferência entre as duas fontes como o problema, e não como um detalhe de implementação.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2545"/>
                </a:solidFill>
                <a:latin typeface="Calibri"/>
              </a:rPr>
              <a:t>Uma pergunta, até quatro portas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1D7874"/>
                </a:solidFill>
                <a:latin typeface="Calibri"/>
              </a:rPr>
              <a:t>A ordem é a que gasta menos: só chega ao modelo o que as anteriores não resolvem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2514600" cy="228600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214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B46A0B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606040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B46A0B"/>
                </a:solidFill>
                <a:latin typeface="Calibri"/>
              </a:rPr>
              <a:t>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017520"/>
            <a:ext cx="2112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Recusa recomendação (CVM 19 e 20/2021)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e anonimiza PII antes de sair da máquina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913632"/>
            <a:ext cx="2112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B46A0B"/>
                </a:solidFill>
                <a:latin typeface="Calibri"/>
              </a:rPr>
              <a:t>custo zero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57016" y="2011680"/>
            <a:ext cx="2514600" cy="228600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4" y="21214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D7874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2606040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D7874"/>
                </a:solidFill>
                <a:latin typeface="Calibri"/>
              </a:rPr>
              <a:t>Painel contábil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8184" y="3017520"/>
            <a:ext cx="2112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DuckDB sobre ITR/DFP.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Responde sem modelo de linguagem nenhum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3913632"/>
            <a:ext cx="2112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1D7874"/>
                </a:solidFill>
                <a:latin typeface="Calibri"/>
              </a:rPr>
              <a:t>custo zero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91072" y="2011680"/>
            <a:ext cx="2514600" cy="228600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1214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13407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34074"/>
                </a:solidFill>
                <a:latin typeface="Calibri"/>
              </a:rPr>
              <a:t>LLM intérprete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2112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O modelo extrai a intenção.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SQL por template, aritmética em 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13632"/>
            <a:ext cx="2112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134074"/>
                </a:solidFill>
                <a:latin typeface="Calibri"/>
              </a:rPr>
              <a:t>1 chamada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5128" y="2011680"/>
            <a:ext cx="2514600" cy="228600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26296" y="212140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B2545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2606040"/>
            <a:ext cx="211226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2545"/>
                </a:solidFill>
                <a:latin typeface="Calibri"/>
              </a:rPr>
              <a:t>RAG documental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6296" y="3017520"/>
            <a:ext cx="211226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Chroma + BM25 sobre 20 releases.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Geração com citação obrigatória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3913632"/>
            <a:ext cx="2112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0B2545"/>
                </a:solidFill>
                <a:latin typeface="Calibri"/>
              </a:rPr>
              <a:t>1 chamada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70916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0B2545"/>
                </a:solidFill>
                <a:latin typeface="Calibri"/>
              </a:rPr>
              <a:t>O modelo nunca escreve SQL, nunca escolhe conta contábil e nunca vê o número antes de ele ser validado.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19963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6A6"/>
                </a:solidFill>
                <a:latin typeface="Calibri"/>
              </a:rPr>
              <a:t>Streamlit · ChromaDB · rank-bm25 · BGE-M3 (Ollama, local) · DuckDB · Mistral OCR · Gemini 3.5 Flash Lite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2545"/>
                </a:solidFill>
                <a:latin typeface="Calibri"/>
              </a:rPr>
              <a:t>Como a resposta é montada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1D7874"/>
                </a:solidFill>
                <a:latin typeface="Calibri"/>
              </a:rPr>
              <a:t>A maioria das perguntas é respondida sem nenhuma geração de texto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45775" cy="1572768"/>
          </a:xfrm>
          <a:prstGeom prst="rect">
            <a:avLst/>
          </a:prstGeom>
          <a:solidFill>
            <a:srgbClr val="E7F1F0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56816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7874"/>
                </a:solidFill>
                <a:latin typeface="Calibri"/>
              </a:rPr>
              <a:t>SEM modelo de linguagem   ·   custo zero, resposta determinística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35915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1. Casar o padrão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70048"/>
            <a:ext cx="1865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período e conceito saem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da pergunta, por regex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35915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2. Resolver o código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670048"/>
            <a:ext cx="1865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a companhia vira CD_CVM;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nome ambíguo vira pergunta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235915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3. Mapa semântico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670048"/>
            <a:ext cx="1865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o conceito vira a conta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certa DAQUELE banco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235915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4. SQL no DuckDB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68896" y="2670048"/>
            <a:ext cx="1865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lê o valor arquivado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e a procedência dele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98864" y="2359152"/>
            <a:ext cx="18653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0B2545"/>
                </a:solidFill>
                <a:latin typeface="Calibri"/>
              </a:rPr>
              <a:t>5. Montar a frase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98864" y="2670048"/>
            <a:ext cx="18653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o texto sai de template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455263"/>
                </a:solidFill>
                <a:latin typeface="Calibri"/>
              </a:rPr>
              <a:t>em Python, nunca gerado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84448"/>
            <a:ext cx="5486400" cy="137160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71246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4074"/>
                </a:solidFill>
                <a:latin typeface="Calibri"/>
              </a:rPr>
              <a:t>COM modelo   ·   só nestes dois casos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96512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Narrativa do release  →  RAG, com citação de página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Conceito fora do painel  →  o modelo só interpreta a intenção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3584448"/>
            <a:ext cx="4754880" cy="1371600"/>
          </a:xfrm>
          <a:prstGeom prst="rect">
            <a:avLst/>
          </a:prstGeom>
          <a:solidFill>
            <a:srgbClr val="F7F1E6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712463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46A0B"/>
                </a:solidFill>
                <a:latin typeface="Calibri"/>
              </a:rPr>
              <a:t>Dois agentes   ·   construído e testado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096512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O Investigador responde e registra como chegou lá.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O Auditor recebe só a afirmação e as fontes — nunca</a:t>
            </a:r>
          </a:p>
          <a:p>
            <a:pPr algn="l">
              <a:spcAft>
                <a:spcPts val="100"/>
              </a:spcAft>
            </a:pPr>
            <a:r>
              <a:rPr sz="1200" b="0" i="0">
                <a:solidFill>
                  <a:srgbClr val="455263"/>
                </a:solidFill>
                <a:latin typeface="Calibri"/>
              </a:rPr>
              <a:t>o rastro — e tenta derrubá-la por conta própria.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38928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B46A0B"/>
                </a:solidFill>
                <a:latin typeface="Calibri"/>
              </a:rPr>
              <a:t>O isolamento entre os dois é verificado por 16 testes que falham se o rastro vazar. A comparação dos três braços é da próxima etapa.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19963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6A6"/>
                </a:solidFill>
                <a:latin typeface="Calibri"/>
              </a:rPr>
              <a:t>O modelo só entra onde a resposta é texto. Onde a resposta é número, quem responde é o painel.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2545"/>
                </a:solidFill>
                <a:latin typeface="Calibri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1D7874"/>
                </a:solidFill>
                <a:latin typeface="Calibri"/>
              </a:rPr>
              <a:t>O que observar na tela, nesta ordem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545775" cy="73152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2996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7874"/>
                </a:solidFill>
                <a:latin typeface="Calibri"/>
              </a:rPr>
              <a:t>UX 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47671"/>
            <a:ext cx="743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Semestre virou trimestre, valor derivado marcado,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procedência à vista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97479"/>
            <a:ext cx="10545775" cy="73152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85292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D7874"/>
                </a:solidFill>
                <a:latin typeface="Calibri"/>
              </a:rPr>
              <a:t>UX writing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70631"/>
            <a:ext cx="743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Pergunta sem período: a interface pergunta de volta,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em vez de chutar ou despejar a série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520439"/>
            <a:ext cx="10545775" cy="73152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67588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B46A0B"/>
                </a:solidFill>
                <a:latin typeface="Calibri"/>
              </a:rPr>
              <a:t>System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93591"/>
            <a:ext cx="743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Pedido de recomendação recusado citando a norma,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antes de qualquer chamada externa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43399"/>
            <a:ext cx="10545775" cy="73152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49884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34074"/>
                </a:solidFill>
                <a:latin typeface="Calibri"/>
              </a:rPr>
              <a:t>RAG + streaming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416551"/>
            <a:ext cx="743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A resposta só é transmitida depois de validada —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é por isso que o texto demora a aparecer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66359"/>
            <a:ext cx="10545775" cy="731520"/>
          </a:xfrm>
          <a:prstGeom prst="rect">
            <a:avLst/>
          </a:prstGeom>
          <a:solidFill>
            <a:srgbClr val="EEF2F7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5321807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2545"/>
                </a:solidFill>
                <a:latin typeface="Calibri"/>
              </a:rPr>
              <a:t>Session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39511"/>
            <a:ext cx="74368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Cota de perguntas e orçamento da sessão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caindo na barra lateral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99632"/>
            <a:ext cx="105457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8A96A6"/>
                </a:solidFill>
                <a:latin typeface="Calibri"/>
              </a:rPr>
              <a:t>Painel e guardrails: custo zero · RAG: uma chamada paga, ~US$ 0,0014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B2545"/>
                </a:solidFill>
                <a:latin typeface="Calibri"/>
              </a:rPr>
              <a:t>Por que o sistema não inventa número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07008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1D7874"/>
                </a:solidFill>
                <a:latin typeface="Calibri"/>
              </a:rPr>
              <a:t>O modelo provavelmente já leu esses releases — e um número convincente e errado é pior que não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920240"/>
            <a:ext cx="10545775" cy="1051560"/>
          </a:xfrm>
          <a:prstGeom prst="rect">
            <a:avLst/>
          </a:prstGeom>
          <a:solidFill>
            <a:srgbClr val="E7F1F0"/>
          </a:solidFill>
          <a:ln w="9525">
            <a:solidFill>
              <a:srgbClr val="D6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D7874"/>
                </a:solidFill>
                <a:latin typeface="Calibri"/>
              </a:rPr>
              <a:t>System prompt escrito para este cenário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95728"/>
            <a:ext cx="99971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Proíbe responder de memória · obriga citar documento e página · manda copiar o número exatamente como impresso, sem converter escala nem arredondar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004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▪  Sem evidência, recusa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3200400"/>
            <a:ext cx="6522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O valor da resposta é conferido contra o trecho citado. Não bate, vira recusa.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7588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▪  Valor derivado sai marcado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675888"/>
            <a:ext cx="6522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O 4º trimestre não existe como ITR: é calculado, e a tela diz isso.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151376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▪  Companhia por código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151376"/>
            <a:ext cx="6522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Resolvida por CD_CVM, nunca por nome. Nome ambíguo gera pergunta.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26864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2545"/>
                </a:solidFill>
                <a:latin typeface="Calibri"/>
              </a:rPr>
              <a:t>▪  Ausência é declarada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626864"/>
            <a:ext cx="6522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55263"/>
                </a:solidFill>
                <a:latin typeface="Calibri"/>
              </a:rPr>
              <a:t>Falta no painel, no corpus ou nos dois — e a resposta diz em qual.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57800"/>
            <a:ext cx="105457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1D7874"/>
                </a:solidFill>
                <a:latin typeface="Calibri"/>
              </a:rPr>
              <a:t>Guardrails medidos:  20/20 ataques bloqueados  ·  0/45 falso bloqueio nas perguntas legítimas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O que está aqui é o que está medido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8FD19E"/>
                </a:solidFill>
                <a:latin typeface="Calibri"/>
              </a:rPr>
              <a:t>Entregue e verificado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20 releases indexados, com hash e manifesto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Painel CVM 2025–2026 conferido banco a banco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Interface nos dois modos, com e sem segredo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Suíte de testes verde a cada mudança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606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0C07A"/>
                </a:solidFill>
                <a:latin typeface="Calibri"/>
              </a:rPr>
              <a:t>Em aberto, e escrito na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063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Auditoria humana de groundedness pendente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Pergunta comparativa ainda não calcula a comparação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Camada de agentes medida em conjunto próprio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C8D6E2"/>
                </a:solidFill>
                <a:latin typeface="Calibri"/>
              </a:rPr>
              <a:t>Resultado publicado mesmo quando desfavorável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1">
                <a:solidFill>
                  <a:srgbClr val="7E9AB5"/>
                </a:solidFill>
                <a:latin typeface="Calibri"/>
              </a:rPr>
              <a:t>Projeto demonstrativo e educacional. Não constitui recomendação de investimento.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